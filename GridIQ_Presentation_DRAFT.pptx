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 %</c:v>
                </c:pt>
              </c:strCache>
            </c:strRef>
          </c:tx>
          <c:spPr>
            <a:solidFill>
              <a:srgbClr val="800000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3232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XGBoost</c:v>
                  </c:pt>
                  <c:pt idx="1">
                    <c:v>Prophet</c:v>
                  </c:pt>
                  <c:pt idx="2">
                    <c:v>SARIMA</c:v>
                  </c:pt>
                  <c:pt idx="3">
                    <c:v>ERCOT forecast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4.29</c:v>
                </c:pt>
                <c:pt idx="1">
                  <c:v>4.28</c:v>
                </c:pt>
                <c:pt idx="2">
                  <c:v>11.42</c:v>
                </c:pt>
                <c:pt idx="3">
                  <c:v>2.49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3232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  <c:min val="0"/>
        </c:scaling>
        <c:delete val="0"/>
        <c:axPos val="l"/>
        <c:majorGridlines>
          <c:spPr>
            <a:ln w="6350" cap="flat">
              <a:solidFill>
                <a:srgbClr val="ECE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Shane. Hook: ERCOT runs ~90% of Texas's grid on an islanded interconnection.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Shane. Four parts, four presenters. ~25s.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Shane. The 'remember one slide' slide. ~50s.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Shane. Anchor on Uri. ~60s.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Emma. Flag the 44→65 schema evolution. ~60s.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Emma. Six steps; is_imputed + lineage = reproducibility. ~75s.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Shane. Temporal lens — the summer cooling peak dominates; 2021 shows the Winter Storm Uri spike. ~60s.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Emma. Data-quality lens: clean dataset — imputation is negligible and concentrated in the newest month; the 'outliers' are real Uri/summer extremes, which is reassuring.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Joel/Shane. This is the baseline the three models are measured against. Full-sample MAPE 2.58%, 2025 test 2.49%. ~60s.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Shane. Lens 4: fuel mix plus the system-balance integrity check (gap ~ -177 MW mean).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Monica. Walk the pipeline; name the three stores. ~60s.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Joel. Walk the EER; OLTP source vs OLAP star + normalization. ~75s.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Joel. Four queries; results saved to BI/. ~60s.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Monica. Real MongoDB 7.0 — 43,824 hourly documents; counts cross-check the DQ figures (57 imputed, 777 solar-night); peak 85,544 MW Aug 2024. ~60s.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Monica. Real Neo4J graph — 43,824 HourlyReading nodes linked to Month(61) → Year(6) and to the ERCO BalancingAuthority, plus a 43,823-edge NEXT_HOUR chain. ~60s.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Monica. Be explicit about tradeoffs. ~60s.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Shane. The 'Discipline' card is the rigor moment. ~75s.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Shane. Full 5-year comparison (train 2021-24, test 2025): XGBoost 4.29%, Prophet 4.28%, SARIMA 11.42%, ERCOT 2.49%. Story: with the same honest demand lags + weather, trees and additive models tie ~4.3%; SARIMA (no demand lags) trails. Features matter more than model family. ~75s.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Shane. Interactive dashboard pulling the three BI/ result sets together — demo live. ~60s.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Shane. Three recommendations, one per pillar.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split across team. The horizon example is Emma's Prophet work — her 1-hour-lag model scored 1.56% (beating ERCOT), which is exactly why horizon discipline matters; reframed to honest day-ahead it joins the comparison. Leakage + single-source-of-truth are the most credible lessons. ~60s.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citations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Shane closes, then opens the floor. Queue the dashboard before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6766560" cy="0"/>
          </a:xfrm>
          <a:prstGeom prst="line">
            <a:avLst/>
          </a:prstGeom>
          <a:noFill/>
          <a:ln w="12700">
            <a:solidFill>
              <a:srgbClr val="EAA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UNIVERSITY OF CHICAGO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Science in Applied Data Science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46304" cy="1874520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GridIQ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05156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1DA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Forecasting ERCOT Hourly Electricity Demand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5156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data-engineering and forecasting pipeline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5532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Isobar   ·   Shane Dunkle  ·  Joel  ·  Emma  ·  Monica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9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ADSP 31012  ·  Data Engineering Platforms for Analytics  ·  Spring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82712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SHANE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7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4592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&amp; the data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645920" y="2395728"/>
            <a:ext cx="4206240" cy="0"/>
          </a:xfrm>
          <a:prstGeom prst="line">
            <a:avLst/>
          </a:prstGeom>
          <a:noFill/>
          <a:ln w="12700">
            <a:solidFill>
              <a:srgbClr val="E2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7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45920" y="3383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analysis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645920" y="3950208"/>
            <a:ext cx="4206240" cy="0"/>
          </a:xfrm>
          <a:prstGeom prst="line">
            <a:avLst/>
          </a:prstGeom>
          <a:noFill/>
          <a:ln w="12700">
            <a:solidFill>
              <a:srgbClr val="E2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0236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7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283196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architecture &amp; stores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283196" y="2395728"/>
            <a:ext cx="4206240" cy="0"/>
          </a:xfrm>
          <a:prstGeom prst="line">
            <a:avLst/>
          </a:prstGeom>
          <a:noFill/>
          <a:ln w="12700">
            <a:solidFill>
              <a:srgbClr val="E2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0236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7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83196" y="3383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Forecasting &amp; findings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283196" y="3950208"/>
            <a:ext cx="4206240" cy="0"/>
          </a:xfrm>
          <a:prstGeom prst="line">
            <a:avLst/>
          </a:prstGeom>
          <a:noFill/>
          <a:ln w="12700">
            <a:solidFill>
              <a:srgbClr val="E2E0E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82712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SHANE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2560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600200"/>
            <a:ext cx="64008" cy="169164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37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777240" y="25420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ERCOT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(2021–2025)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1600200"/>
            <a:ext cx="2560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600200"/>
            <a:ext cx="64008" cy="169164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737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43,824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3566160" y="25420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records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2560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600200"/>
            <a:ext cx="64008" cy="169164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737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+ 2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6355080" y="25420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star tables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&amp; Neo4J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06840" y="1600200"/>
            <a:ext cx="2560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06840" y="1600200"/>
            <a:ext cx="64008" cy="169164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1737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9144000" y="25420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70332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8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built.   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pipeline that ingests five years of federal ERCOT demand data, loads it into a relational star-schema warehouse alongside document and graph stores, and forecasts demand 24 hours ahead — benchmarked against ERCOT’s own operational forecast.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40080" y="470916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8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finding.   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is the dominant driver of demand — adding cooling/heating degree-days materially cuts 24-hour-ahead error. A residual gap to ERCOT reflects load-zone weather and generation-schedule data unavailable in public sources.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31720"/>
            <a:ext cx="146304" cy="1783080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286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A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&amp; The Data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5156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ERCOT demand forecasting matters — and the federal data behind 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C9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PROBLEM &amp;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case &amp; objectives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82712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SHANE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ERCOT demand forecasting matters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6492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ERCOT operates the grid for ~90% of Texas load on an islanded interconnection — limited ability to import power in a crunch.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demand forecasts drive reserve planning, generator dispatch, and market pricing.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Storm Uri (Feb 2021) exposed the cost of demand–supply mismatch: days-long statewide outages.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capstone for data engineering: high-volume, time-series, multi-source.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35240" y="1417320"/>
            <a:ext cx="3931920" cy="4023360"/>
          </a:xfrm>
          <a:prstGeom prst="rect">
            <a:avLst/>
          </a:prstGeom>
          <a:solidFill>
            <a:srgbClr val="F4F4F5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35240" y="1417320"/>
            <a:ext cx="64008" cy="402336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7909560" y="16276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909560" y="2148840"/>
            <a:ext cx="3429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5 yrs of ERCOT data into relational + NoSQL stores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demand patterns — temporal, quality, accuracy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demand 24 h ahead; benchmark vs ERCOT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 dashboard and insights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PROBLEM &amp;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 &amp; profile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82712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EMMA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Source.   </a:t>
            </a:r>
            <a:pPr indent="0" marL="0">
              <a:buNone/>
            </a:pPr>
            <a:r>
              <a:rPr lang="en-US" sz="15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EIA-930 ‘BALANCE’ bulk files — balancing authority ERCO (ERCOT), hourly.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6766560" cy="2651760"/>
        </p:xfrm>
        <a:graphic>
          <a:graphicData uri="http://schemas.openxmlformats.org/drawingml/2006/table">
            <a:tbl>
              <a:tblPr/>
              <a:tblGrid>
                <a:gridCol w="2286000"/>
                <a:gridCol w="4480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demand_mw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hourly electricity demand (target)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demand_forecast_mw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ERCOT’s own day-ahead forecast (benchmark)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net_generation_mw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net generation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total_interchange_mw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imports / exports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fuel columns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 by fuel type (from 2024)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635240" y="1920240"/>
            <a:ext cx="3931920" cy="3017520"/>
          </a:xfrm>
          <a:prstGeom prst="rect">
            <a:avLst/>
          </a:prstGeom>
          <a:solidFill>
            <a:srgbClr val="F4F4F5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635240" y="1920240"/>
            <a:ext cx="64008" cy="301752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790956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a glance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09560" y="251460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43,824 hourly rows (Jan 2021 → Jan 2026, UTC)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evolved 44 → 65 columns at 2024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Gap-free in UTC; 57 imputed rows (0.13%)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Parquet for fast columnar reads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PROBLEM &amp;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 &amp; corralling (ETL)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82712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EMMA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49300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7190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7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63040" y="17556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26771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EIA-930 bulk CSVs, 2021–2025 (10 half-year files)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70832" y="1554480"/>
            <a:ext cx="349300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53712" y="17190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7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93792" y="17556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Concatenate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26771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all years; reconcile 44- vs 65-column schemas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01584" y="1554480"/>
            <a:ext cx="349300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84464" y="17190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7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924544" y="17556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02752" y="226771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 (keep-last); UTC datetime index; drop unused fields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429000"/>
            <a:ext cx="349300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3593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7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63040" y="36301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Impute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" y="414223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short gaps; flag every fill with is_imputed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70832" y="3429000"/>
            <a:ext cx="349300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53712" y="3593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7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193792" y="36301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Enrich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0" y="414223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solar_night_flag; snake_case names; source-file lineage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01584" y="3429000"/>
            <a:ext cx="349300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84464" y="3593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7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924544" y="36301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02752" y="414223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validated Parquet — the single source of truth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31720"/>
            <a:ext cx="146304" cy="1783080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286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A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5156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analytical lenses on five years of demand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C9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EXPLORATORY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demand patterns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82712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SHANE</a:t>
            </a:r>
            <a:endParaRPr lang="en-US" sz="900" dirty="0"/>
          </a:p>
        </p:txBody>
      </p:sp>
      <p:pic>
        <p:nvPicPr>
          <p:cNvPr id="8" name="Image 0" descr="fig_month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6903720" cy="31638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600200"/>
            <a:ext cx="3794760" cy="3611880"/>
          </a:xfrm>
          <a:prstGeom prst="rect">
            <a:avLst/>
          </a:prstGeom>
          <a:solidFill>
            <a:srgbClr val="F4F4F5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0" y="1600200"/>
            <a:ext cx="64008" cy="361188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8028432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shows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28432" y="224028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summer peak — AC load in Jul–Aug runs ~40% above spring troughs.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growth — 2025 runs at or above prior years across most months.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and temperature dependence motivate our weather features.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0080" y="51206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mean demand by year — EDA notebook (Lens 1).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EXPLORATORY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82712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EMMA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shows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6675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imputed rows total (0.13%) — 48 of them in Dec 2025, the most recent, least-settled data.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777 solar-night flags — overnight hours flagged for the solar sunrise-edge nuance.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685 demand outliers (IQR) — the extremes are genuine Aug 2023–24 summer peaks (~85,500 MW), not data errors.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Pre-2024 fuel columns are 100% null by design — structured nulls from the schema evolution, not missing data.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26680" y="1783080"/>
            <a:ext cx="3840480" cy="1554480"/>
          </a:xfrm>
          <a:prstGeom prst="rect">
            <a:avLst/>
          </a:prstGeom>
          <a:solidFill>
            <a:srgbClr val="F4F4F5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26680" y="1783080"/>
            <a:ext cx="64008" cy="155448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19202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0.13%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726680" y="2697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rows imputed  (57 / 43,824)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26680" y="3611880"/>
            <a:ext cx="3840480" cy="1554480"/>
          </a:xfrm>
          <a:prstGeom prst="rect">
            <a:avLst/>
          </a:prstGeom>
          <a:solidFill>
            <a:srgbClr val="F4F4F5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26680" y="3611880"/>
            <a:ext cx="64008" cy="155448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7726680" y="3749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726680" y="4526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outliers — genuine summer peaks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EXPLORATORY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ERCOT forecast accuracy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82712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JOEL</a:t>
            </a:r>
            <a:endParaRPr lang="en-US" sz="900" dirty="0"/>
          </a:p>
        </p:txBody>
      </p:sp>
      <p:pic>
        <p:nvPicPr>
          <p:cNvPr id="8" name="Image 0" descr="fig_mape_mon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6035040" cy="40965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8978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ERCOT day-ahead error by month — EDA notebook (Lens 3).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726680" y="1783080"/>
            <a:ext cx="3840480" cy="1554480"/>
          </a:xfrm>
          <a:prstGeom prst="rect">
            <a:avLst/>
          </a:prstGeom>
          <a:solidFill>
            <a:srgbClr val="F4F4F5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26680" y="1783080"/>
            <a:ext cx="64008" cy="155448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7726680" y="19202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2.49%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7726680" y="2697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ERCOT day-ahead MAPE (2025) — the benchmark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26680" y="36576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percentage terms ERCOT errs most in winter — February is the worst month — while the steady summer cooling load is forecast most accurately. Texas winter demand is the volatile, weather-driven case.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EXPLORATORY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Cross-aggregation: fuel mix &amp; balance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82712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SHANE</a:t>
            </a:r>
            <a:endParaRPr lang="en-US" sz="900" dirty="0"/>
          </a:p>
        </p:txBody>
      </p:sp>
      <p:pic>
        <p:nvPicPr>
          <p:cNvPr id="8" name="Image 0" descr="fig_fuelm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5960"/>
            <a:ext cx="7040880" cy="2496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5720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mix by fuel, 2024+ — EDA notebook (Lens 4).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772400" y="1783080"/>
            <a:ext cx="3794760" cy="3566160"/>
          </a:xfrm>
          <a:prstGeom prst="rect">
            <a:avLst/>
          </a:prstGeom>
          <a:solidFill>
            <a:srgbClr val="F4F4F5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0" y="1783080"/>
            <a:ext cx="64008" cy="356616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8028432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Cutting across measures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28432" y="242316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fuel types tracked from 2024; natural gas leads (~31%), with wind, coal, nuclear and solar making up most of the balance.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contributes most during daytime hours — offsetting load when the sun is up.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System-balance check: net generation + interchange tracks demand to within ~180 MW on average — confirms data integrity.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A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31720"/>
            <a:ext cx="146304" cy="1783080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286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A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Architecture &amp; Stores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5156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three stores — relational, document, and graph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C9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DATA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&amp; data stores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82712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MONICA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9385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03911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CSVs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441448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EIA-930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files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78608" y="228600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926080" y="1874520"/>
            <a:ext cx="19385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0" y="203911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2441448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impute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64608" y="228600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212080" y="1874520"/>
            <a:ext cx="19385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0" y="203911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Warehouse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12080" y="2441448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star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(OLAP)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50608" y="228600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498080" y="1874520"/>
            <a:ext cx="19385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0" y="203911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NoSQL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0" y="2441448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436608" y="228600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84080" y="1874520"/>
            <a:ext cx="19385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784080" y="203911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784080" y="2441448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4160520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XGBoost, statsmodels, Prophet) on Google Colab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(relational / OLAP)  ·  MongoDB (document)  ·  Neo4J (graph)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Tableau dashboard  ·  shared config &amp; visualization modules for reproducibility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DATA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Relational star schema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82712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JOEL</a:t>
            </a:r>
            <a:endParaRPr lang="en-US" sz="900" dirty="0"/>
          </a:p>
        </p:txBody>
      </p:sp>
      <p:pic>
        <p:nvPicPr>
          <p:cNvPr id="8" name="Image 0" descr="gridiq_e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445844" cy="4297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97404" y="1572768"/>
            <a:ext cx="7051468" cy="4251960"/>
          </a:xfrm>
          <a:prstGeom prst="rect">
            <a:avLst/>
          </a:prstGeom>
          <a:solidFill>
            <a:srgbClr val="F4F4F5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7404" y="1572768"/>
            <a:ext cx="64008" cy="425196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4744292" y="1755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44292" y="2194560"/>
            <a:ext cx="65302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two fact tables (hourly energy, fuel generation) around four conformed dimensions.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in 3NF; facts hold additive measures — classic OLAP for time-series rollups.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dim_time drives hour/day/season aggregation; dim_source_file preserves lineage.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keys; foreign keys enforce referential integrity.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DATA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analysis &amp; insights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82712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JOEL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600200"/>
            <a:ext cx="64008" cy="178308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 ·  Peak demand hours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225856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load concentrates in summer late-afternoon / evening — the AC-driven system peak.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600200"/>
            <a:ext cx="64008" cy="178308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510528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 ·  Load shape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10528" y="225856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 profiles differ sharply; mornings ramp earlier on weekdays.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611880"/>
            <a:ext cx="64008" cy="178308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3794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 ·  Forecast error by month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427024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ERCOT’s percentage error peaks in winter (Feb); the steady summer load is forecast most accurately.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361188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3611880"/>
            <a:ext cx="64008" cy="178308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3794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 ·  Fuel mix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10528" y="427024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share by fuel (2024+) — context for net-generation vs demand.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DATA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NoSQL — MongoDB (document store)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82712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MONICA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 per hour — 43,824 documents loaded into gridiq.hourly_readings (MongoDB 7.0).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measures + a fuels sub-document (empty pre-2024, populated after) + quality flags — the flexible schema absorbs the 44→65 column evolution with no migration.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on ts (unique) and (year, month); validated against the data-quality counts — 57 imputed, 777 solar-night.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pipeline: avg demand by year, peak-demand hour (85,544 MW, Aug 2024), fuel mix.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49440" y="1783080"/>
            <a:ext cx="4617720" cy="3611880"/>
          </a:xfrm>
          <a:prstGeom prst="rect">
            <a:avLst/>
          </a:prstGeom>
          <a:solidFill>
            <a:srgbClr val="F4F4F5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0" y="1783080"/>
            <a:ext cx="64008" cy="361188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7178040" y="19019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document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78040" y="2286000"/>
            <a:ext cx="4251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"_id": "2024-01-01T00:00Z",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"ba": "ERCO",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"demand_mw": 44394,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"forecast_mw": 42787,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"net_generation_mw": 44370,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"time": { "year":2024, "month":1, "hour":0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"fuels": { "natural_gas":18497,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"wind":10946, "coal":8353,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"nuclear":5115, "solar":1056, ...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"flags": { "imputed":false,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"solar_night":false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DATA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NoSQL — Neo4J (graph store)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82712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MONICA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5897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graph of the demand series: every HourlyReading links to its Month → Year and to the BalancingAuthority (ERCO).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NEXT_HOUR chain threads all 43,824 readings in order — temporal traversal as edges, not self-joins.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graph: “walk the timeline” and hierarchy roll-ups are natural traversals, awkward as joins.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validated in Neo4J on the full 5-year series.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0" y="1783080"/>
            <a:ext cx="4709160" cy="3611880"/>
          </a:xfrm>
          <a:prstGeom prst="rect">
            <a:avLst/>
          </a:prstGeom>
          <a:solidFill>
            <a:srgbClr val="F4F4F5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0" y="1783080"/>
            <a:ext cx="64008" cy="361188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19019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graph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0" y="2834640"/>
            <a:ext cx="0" cy="22860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0" y="3611880"/>
            <a:ext cx="0" cy="22860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4114800"/>
            <a:ext cx="228600" cy="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0" y="2286000"/>
            <a:ext cx="1280160" cy="548640"/>
          </a:xfrm>
          <a:prstGeom prst="roundRect">
            <a:avLst>
              <a:gd name="adj" fmla="val 11667"/>
            </a:avLst>
          </a:prstGeom>
          <a:solidFill>
            <a:srgbClr val="595959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15400" y="3063240"/>
            <a:ext cx="1371600" cy="548640"/>
          </a:xfrm>
          <a:prstGeom prst="roundRect">
            <a:avLst>
              <a:gd name="adj" fmla="val 11667"/>
            </a:avLst>
          </a:prstGeom>
          <a:solidFill>
            <a:srgbClr val="595959"/>
          </a:solidFill>
          <a:ln/>
        </p:spPr>
      </p:sp>
      <p:sp>
        <p:nvSpPr>
          <p:cNvPr id="18" name="Text 16"/>
          <p:cNvSpPr/>
          <p:nvPr/>
        </p:nvSpPr>
        <p:spPr>
          <a:xfrm>
            <a:off x="8915400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95360" y="3840480"/>
            <a:ext cx="2011680" cy="548640"/>
          </a:xfrm>
          <a:prstGeom prst="roundRect">
            <a:avLst>
              <a:gd name="adj" fmla="val 11667"/>
            </a:avLst>
          </a:prstGeom>
          <a:solidFill>
            <a:srgbClr val="8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HourlyReading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43,824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86600" y="3840480"/>
            <a:ext cx="1280160" cy="548640"/>
          </a:xfrm>
          <a:prstGeom prst="roundRect">
            <a:avLst>
              <a:gd name="adj" fmla="val 11667"/>
            </a:avLst>
          </a:prstGeom>
          <a:solidFill>
            <a:srgbClr val="A77C00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3840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· ERCO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86600" y="473659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 RECORDED_IN 43,824  ·  PART_OF 61  ·  BELONGS_TO 43,824  ·  NEXT_HOUR 43,823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DATA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the right data store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82712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MONICA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08792" cy="301752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4160520"/>
                <a:gridCol w="291693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use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schema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aggregation, time-series rollups, joins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facts + dims; SQL analytics &amp; dashboard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/ semi-structured schema, fast reads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Hourly docs with nested measures &amp; flags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graph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traversal &amp; data lineage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→ time → fuel → source lineage graph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48006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Takeaway.   </a:t>
            </a:r>
            <a:pPr indent="0" marL="0">
              <a:buNone/>
            </a:pPr>
            <a:r>
              <a:rPr lang="en-US" sz="1450" i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store wins everywhere — relational for analytics, document for flexible ingest, graph for relationships. The pipeline uses each where it is strongest.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A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31720"/>
            <a:ext cx="146304" cy="1783080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286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A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Forecasting &amp; Findings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5156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disciplined 24-hour-ahead forecast, benchmarked against ERCOT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C9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FORECASTING &amp;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Forecasting methodology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82712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SHANE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600200"/>
            <a:ext cx="64008" cy="178308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783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Horizon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2688" y="22585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 ahead — a real operational use case, matched to ERCOT’s day-ahead forecast.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600200"/>
            <a:ext cx="64008" cy="178308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510528" y="1783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0528" y="22585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2021–2024  ·  test on held-out 2025. Chronological, no shuffling.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611880"/>
            <a:ext cx="64008" cy="178308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3794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32688" y="42702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+ cyclical encodings  ·  lags (t-24, t-168)  ·  temperature (cooling / heating degrees).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361188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3611880"/>
            <a:ext cx="64008" cy="178308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3794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10528" y="42702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a 1-hour lag that leaked near-future persistence — keeping the comparison honest.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FORECASTING &amp;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 (24h-ahead, 2025)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82712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SHANE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160020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675120" y="1600200"/>
            <a:ext cx="4892040" cy="3749040"/>
          </a:xfrm>
          <a:prstGeom prst="rect">
            <a:avLst/>
          </a:prstGeom>
          <a:solidFill>
            <a:srgbClr val="F4F4F5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1600200"/>
            <a:ext cx="64008" cy="374904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931152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2025 test year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31152" y="2194560"/>
            <a:ext cx="4480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(recent lags + weather)  →  4.29%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(multiplicative seasonality + honest lags)  →  4.28% — ties XGBoost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(Fourier + degree-days, no demand lags)  →  11.42%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ERCOT day-ahead benchmark  →  2.49%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931152" y="393192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8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spread.  </a:t>
            </a:r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beat algorithm. Given the same honest inputs — recent demand lags + degree-days — two very different families (boosted trees and additive decomposition) land within 0.01% (4.29 vs 4.28%). SARIMA has no demand lags and trails at 11.42%, the foil that shows recent-demand features, not the model, drive accuracy toward ERCOT.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640080" y="54681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trained on 2021–2024, tested on the held-out 2025 (8,760 hours).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MAPE is better. ERCOT benefits from load-zone weather and generation schedules unavailable in public data.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FORECASTING &amp;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&amp; insights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82712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SHANE</a:t>
            </a:r>
            <a:endParaRPr lang="en-US" sz="900" dirty="0"/>
          </a:p>
        </p:txBody>
      </p:sp>
      <p:pic>
        <p:nvPicPr>
          <p:cNvPr id="8" name="Image 0" descr="dash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6766560" cy="35570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4406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live build (HTML / Power BI-ready).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8096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panels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80960" y="228600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scorecard — data, stores, best model vs benchmark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XGBoost · Prophet · SARIMA vs ERCOT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ERCOT forecast error by month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data-store cards (MySQL · MongoDB · Neo4J)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summary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FORECASTING &amp;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82712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SHANE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349300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783080"/>
            <a:ext cx="64008" cy="329184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039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7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20756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27432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weather inputs — temperature is the single largest lever on day-ahead accuracy.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370832" y="1783080"/>
            <a:ext cx="349300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70832" y="1783080"/>
            <a:ext cx="64008" cy="329184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626864" y="2039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7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193792" y="20756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3440" y="27432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forecast horizon to the decision; guard against persistence leakage in autoregressive features.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101584" y="1783080"/>
            <a:ext cx="349300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01584" y="1783080"/>
            <a:ext cx="64008" cy="3291840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8357616" y="2039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7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924544" y="20756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94192" y="27432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right store per need — relational for analytics, document for ingest, graph for lineage.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FORECASTING &amp;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learned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82712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ALL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600200"/>
            <a:ext cx="64008" cy="1783080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Forecast-horizon discipline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225856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Prophet using a 1-hour demand lag scored 1.56% — beating ERCOT — but that's a 1-hour-ahead task; held to honest 24-hour-ahead, it tells the real story.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600200"/>
            <a:ext cx="64008" cy="1783080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14" name="Text 12"/>
          <p:cNvSpPr/>
          <p:nvPr/>
        </p:nvSpPr>
        <p:spPr>
          <a:xfrm>
            <a:off x="6510528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source of truth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10528" y="225856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config / module files broke imports repeatedly — we enforced a single canonical copy.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611880"/>
            <a:ext cx="64008" cy="1783080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3794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UTC first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427024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UTC and deriving local features sidestepped daylight-saving gaps entirely.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361188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3611880"/>
            <a:ext cx="64008" cy="1783080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3794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 dominates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10528" y="427024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Cooling/heating degree-days were the single biggest lever — exogenous data mattered more than model choice.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" cy="118872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&amp; tools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CHICAGO    ·    M.S. IN APPLIED DATA SCIENCE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109087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Energy Information Administration — EIA-930 Hourly Electric Grid Monitor (BALANCE files). eia.gov/electricity/gridmonitor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Historical Weather API — hourly 2-m temperature, ERCOT metros. open-meteo.com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ERCOT — Electric Reliability Council of Texas. ercot.com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pandas, XGBoost, statsmodels (SARIMA), Prophet, SQLAlchemy / PyMySQL.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stores: MySQL, MongoDB, Neo4J.  Visualization: Power BI / Tableau.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A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6766560" cy="0"/>
          </a:xfrm>
          <a:prstGeom prst="line">
            <a:avLst/>
          </a:prstGeom>
          <a:noFill/>
          <a:ln w="12700">
            <a:solidFill>
              <a:srgbClr val="EAA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50" kern="0" dirty="0">
                <a:solidFill>
                  <a:srgbClr val="E3C9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UNIVERSITY OF CHICAGO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46304" cy="1325880"/>
          </a:xfrm>
          <a:prstGeom prst="rect">
            <a:avLst/>
          </a:prstGeom>
          <a:solidFill>
            <a:srgbClr val="EAAA00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5156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A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GridIQ · Team Isobar — Shane · Joel · Emma · Monica      |      ADSP 31012 · Spring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GridIQ — ERCOT Hourly Energy Demand</dc:title>
  <dc:subject>PptxGenJS Presentation</dc:subject>
  <dc:creator>GridIQ Team — The University of Chicago</dc:creator>
  <cp:lastModifiedBy>GridIQ Team — The University of Chicago</cp:lastModifiedBy>
  <cp:revision>1</cp:revision>
  <dcterms:created xsi:type="dcterms:W3CDTF">2026-05-26T22:13:28Z</dcterms:created>
  <dcterms:modified xsi:type="dcterms:W3CDTF">2026-05-26T22:13:28Z</dcterms:modified>
</cp:coreProperties>
</file>